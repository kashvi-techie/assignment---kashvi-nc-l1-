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57" r:id="rId4"/>
    <p:sldId id="258" r:id="rId5"/>
    <p:sldId id="264" r:id="rId6"/>
    <p:sldId id="261" r:id="rId7"/>
    <p:sldId id="259" r:id="rId8"/>
    <p:sldId id="263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3F3B19-6A8C-47A6-85D4-5C90C22C7BF1}" v="359" dt="2025-11-18T04:37:39.9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s this a reference to WALL-E? Took this photo a few years back but just  now found it again. Or is it a reference to something else? : r/metro">
            <a:extLst>
              <a:ext uri="{FF2B5EF4-FFF2-40B4-BE49-F238E27FC236}">
                <a16:creationId xmlns:a16="http://schemas.microsoft.com/office/drawing/2014/main" id="{5F59C8AF-14C9-2494-DF8E-DD039053E6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531" b="-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5191760" cy="377309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/>
            <a:r>
              <a:rPr lang="en-US" sz="5400" dirty="0">
                <a:solidFill>
                  <a:schemeClr val="bg1"/>
                </a:solidFill>
                <a:ea typeface="+mj-lt"/>
                <a:cs typeface="+mj-lt"/>
              </a:rPr>
              <a:t>VEE – The Gesture-Responsive Waving Robot</a:t>
            </a:r>
            <a:endParaRPr lang="en-US" dirty="0">
              <a:solidFill>
                <a:schemeClr val="bg1"/>
              </a:solidFill>
              <a:ea typeface="+mj-lt"/>
              <a:cs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20644C-E674-39B4-28A7-B9A98E6DC198}"/>
              </a:ext>
            </a:extLst>
          </p:cNvPr>
          <p:cNvSpPr txBox="1"/>
          <p:nvPr/>
        </p:nvSpPr>
        <p:spPr>
          <a:xfrm>
            <a:off x="590674" y="5388396"/>
            <a:ext cx="4857994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Kashvi ,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Nandini,Sohit,Khyati,Harsh</a:t>
            </a:r>
          </a:p>
          <a:p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B.Tech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CSE, 1st Year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Department of Computer Science &amp; Engineering</a:t>
            </a:r>
            <a:br>
              <a:rPr lang="en-US" b="1" dirty="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b="1" dirty="0">
                <a:solidFill>
                  <a:schemeClr val="bg1"/>
                </a:solidFill>
              </a:rPr>
              <a:t>GLA Greater Noida </a:t>
            </a:r>
            <a:endParaRPr lang="en-US" i="1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124D4941-F72C-2C84-0952-7762D72B59FD}"/>
              </a:ext>
            </a:extLst>
          </p:cNvPr>
          <p:cNvSpPr txBox="1"/>
          <p:nvPr/>
        </p:nvSpPr>
        <p:spPr>
          <a:xfrm>
            <a:off x="353785" y="272142"/>
            <a:ext cx="6858000" cy="5355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Aim / Objective</a:t>
            </a:r>
            <a:endParaRPr lang="en-US" sz="360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Detect human presence using distance measurement.</a:t>
            </a:r>
            <a:endParaRPr lang="en-US" sz="360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Respond with a </a:t>
            </a:r>
            <a:r>
              <a:rPr lang="en-US" sz="3600" b="1" dirty="0">
                <a:solidFill>
                  <a:schemeClr val="bg1"/>
                </a:solidFill>
                <a:ea typeface="+mn-lt"/>
                <a:cs typeface="+mn-lt"/>
              </a:rPr>
              <a:t>waving gesture</a:t>
            </a: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 sz="360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Learn how sensors, microcontrollers, and actuators work together.</a:t>
            </a:r>
            <a:endParaRPr lang="en-US" sz="360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Build a foundation for future robotics/AI projects.</a:t>
            </a:r>
            <a:endParaRPr lang="en-US" sz="3600">
              <a:solidFill>
                <a:schemeClr val="bg1"/>
              </a:solidFill>
            </a:endParaRPr>
          </a:p>
          <a:p>
            <a:pPr algn="l"/>
            <a:endParaRPr lang="en-US" dirty="0"/>
          </a:p>
        </p:txBody>
      </p:sp>
      <p:pic>
        <p:nvPicPr>
          <p:cNvPr id="25" name="WhatsApp Video 2025-11-18 at 09.26.42_9d82548f">
            <a:hlinkClick r:id="" action="ppaction://media"/>
            <a:extLst>
              <a:ext uri="{FF2B5EF4-FFF2-40B4-BE49-F238E27FC236}">
                <a16:creationId xmlns:a16="http://schemas.microsoft.com/office/drawing/2014/main" id="{CAFDEADE-8FF6-BA24-84CE-A934AA756A4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53924" y="2007243"/>
            <a:ext cx="4042719" cy="5534627"/>
          </a:xfrm>
          <a:prstGeom prst="rect">
            <a:avLst/>
          </a:prstGeom>
        </p:spPr>
      </p:pic>
      <p:pic>
        <p:nvPicPr>
          <p:cNvPr id="22" name="Picture 21" descr="A diagram of a circuit board&#10;&#10;AI-generated content may be incorrect.">
            <a:extLst>
              <a:ext uri="{FF2B5EF4-FFF2-40B4-BE49-F238E27FC236}">
                <a16:creationId xmlns:a16="http://schemas.microsoft.com/office/drawing/2014/main" id="{8726CA2D-2E3D-A5B5-E404-E5C82ADF5D1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3548" r="22752" b="-309"/>
          <a:stretch>
            <a:fillRect/>
          </a:stretch>
        </p:blipFill>
        <p:spPr>
          <a:xfrm>
            <a:off x="7910657" y="-2014"/>
            <a:ext cx="4284879" cy="3538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554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4E98B8B0-573C-43DD-85FE-31433D570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ox with a light on it&#10;&#10;AI-generated content may be incorrect.">
            <a:extLst>
              <a:ext uri="{FF2B5EF4-FFF2-40B4-BE49-F238E27FC236}">
                <a16:creationId xmlns:a16="http://schemas.microsoft.com/office/drawing/2014/main" id="{00835347-3279-BAD4-213E-9211802E03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542" r="1" b="17985"/>
          <a:stretch>
            <a:fillRect/>
          </a:stretch>
        </p:blipFill>
        <p:spPr>
          <a:xfrm>
            <a:off x="-97951" y="10"/>
            <a:ext cx="7642726" cy="6857990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263" y="3986129"/>
            <a:ext cx="6288261" cy="2253231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rgbClr val="EFEFE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83BFB6-4D56-D60D-662F-8D107527F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152624"/>
            <a:ext cx="2112264" cy="1920240"/>
          </a:xfrm>
        </p:spPr>
        <p:txBody>
          <a:bodyPr>
            <a:normAutofit/>
          </a:bodyPr>
          <a:lstStyle/>
          <a:p>
            <a:r>
              <a:rPr lang="en-US" sz="2400" b="1">
                <a:latin typeface="Aptos"/>
              </a:rPr>
              <a:t>Use pictures of each component:</a:t>
            </a:r>
            <a:endParaRPr lang="en-US" sz="2400" b="1"/>
          </a:p>
        </p:txBody>
      </p:sp>
      <p:pic>
        <p:nvPicPr>
          <p:cNvPr id="6" name="Picture 5" descr="What is an Arduino? - SparkFun Learn">
            <a:extLst>
              <a:ext uri="{FF2B5EF4-FFF2-40B4-BE49-F238E27FC236}">
                <a16:creationId xmlns:a16="http://schemas.microsoft.com/office/drawing/2014/main" id="{76820AC7-0B52-7A84-20C7-B3FE745116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063" r="3" b="15579"/>
          <a:stretch>
            <a:fillRect/>
          </a:stretch>
        </p:blipFill>
        <p:spPr>
          <a:xfrm>
            <a:off x="7720049" y="10"/>
            <a:ext cx="4471952" cy="224027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370" y="47845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07046" y="5103601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FD316-45B6-A075-FBC4-907186DF9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4106" y="4369090"/>
            <a:ext cx="3319272" cy="19202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100" b="1"/>
              <a:t>Components Used</a:t>
            </a:r>
            <a:endParaRPr lang="en-US" sz="1100">
              <a:ea typeface="+mn-lt"/>
              <a:cs typeface="+mn-lt"/>
            </a:endParaRPr>
          </a:p>
          <a:p>
            <a:r>
              <a:rPr lang="en-US" sz="1100">
                <a:ea typeface="+mn-lt"/>
                <a:cs typeface="+mn-lt"/>
              </a:rPr>
              <a:t>Arduino UNO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HC-SR04 Ultrasonic Sensor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SG90 Micro Servo</a:t>
            </a:r>
            <a:endParaRPr lang="en-US" sz="1100"/>
          </a:p>
          <a:p>
            <a:r>
              <a:rPr lang="en-US" sz="1100" dirty="0">
                <a:ea typeface="+mn-lt"/>
                <a:cs typeface="+mn-lt"/>
              </a:rPr>
              <a:t>Breadboard</a:t>
            </a:r>
            <a:endParaRPr lang="en-US" sz="1100" dirty="0"/>
          </a:p>
          <a:p>
            <a:r>
              <a:rPr lang="en-US" sz="1100" dirty="0">
                <a:ea typeface="+mn-lt"/>
                <a:cs typeface="+mn-lt"/>
              </a:rPr>
              <a:t>Jumper Wires</a:t>
            </a:r>
            <a:endParaRPr lang="en-US" sz="1100" dirty="0"/>
          </a:p>
          <a:p>
            <a:r>
              <a:rPr lang="en-US" sz="1100" dirty="0">
                <a:ea typeface="+mn-lt"/>
                <a:cs typeface="+mn-lt"/>
              </a:rPr>
              <a:t>LED (optional)</a:t>
            </a:r>
            <a:endParaRPr lang="en-US" sz="1100" dirty="0"/>
          </a:p>
          <a:p>
            <a:endParaRPr lang="en-US" sz="1100"/>
          </a:p>
          <a:p>
            <a:endParaRPr lang="en-US" sz="1100"/>
          </a:p>
        </p:txBody>
      </p:sp>
      <p:pic>
        <p:nvPicPr>
          <p:cNvPr id="8" name="Picture 7" descr="Servo Motor SG-90 Basics, Pinout, Wire ...">
            <a:extLst>
              <a:ext uri="{FF2B5EF4-FFF2-40B4-BE49-F238E27FC236}">
                <a16:creationId xmlns:a16="http://schemas.microsoft.com/office/drawing/2014/main" id="{B9F5F4BE-9C00-3A02-FC23-905ABBB9C2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706" r="1" b="11160"/>
          <a:stretch>
            <a:fillRect/>
          </a:stretch>
        </p:blipFill>
        <p:spPr>
          <a:xfrm>
            <a:off x="7720049" y="2308860"/>
            <a:ext cx="4471952" cy="2240280"/>
          </a:xfrm>
          <a:prstGeom prst="rect">
            <a:avLst/>
          </a:prstGeom>
        </p:spPr>
      </p:pic>
      <p:pic>
        <p:nvPicPr>
          <p:cNvPr id="7" name="Picture 6" descr="Ultrasonic Sensor HC-SR04 with Arduino ...">
            <a:extLst>
              <a:ext uri="{FF2B5EF4-FFF2-40B4-BE49-F238E27FC236}">
                <a16:creationId xmlns:a16="http://schemas.microsoft.com/office/drawing/2014/main" id="{C717339B-F05A-8D91-8EFE-E4BE84E983D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859" r="-3" b="8979"/>
          <a:stretch>
            <a:fillRect/>
          </a:stretch>
        </p:blipFill>
        <p:spPr>
          <a:xfrm>
            <a:off x="7720049" y="4617720"/>
            <a:ext cx="4471957" cy="224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343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3" name="Rectangle 392">
            <a:extLst>
              <a:ext uri="{FF2B5EF4-FFF2-40B4-BE49-F238E27FC236}">
                <a16:creationId xmlns:a16="http://schemas.microsoft.com/office/drawing/2014/main" id="{F4F2FC05-7D27-410F-BDA9-ADF483136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94" name="Rectangle 393">
            <a:extLst>
              <a:ext uri="{FF2B5EF4-FFF2-40B4-BE49-F238E27FC236}">
                <a16:creationId xmlns:a16="http://schemas.microsoft.com/office/drawing/2014/main" id="{9080D120-BD54-46E1-BA37-82F5E8089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3" y="633619"/>
            <a:ext cx="5457817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7595D4-1441-CD7E-D385-6107404CA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978408"/>
            <a:ext cx="4607052" cy="1106424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2900" b="1">
                <a:ln w="22225">
                  <a:solidFill>
                    <a:srgbClr val="FFFFFF"/>
                  </a:solidFill>
                </a:ln>
                <a:latin typeface="Aptos"/>
              </a:rPr>
              <a:t>Circuit Diagram</a:t>
            </a:r>
            <a:endParaRPr lang="en-US" sz="2900">
              <a:ln w="22225">
                <a:solidFill>
                  <a:srgbClr val="FFFFFF"/>
                </a:solidFill>
              </a:ln>
            </a:endParaRPr>
          </a:p>
          <a:p>
            <a:endParaRPr lang="en-US" sz="2900">
              <a:ln w="22225">
                <a:solidFill>
                  <a:srgbClr val="FFFFFF"/>
                </a:solidFill>
              </a:ln>
            </a:endParaRPr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81D83946-74FA-498A-AC80-9926F041B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5" y="1181536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5060D983-8B52-443A-8183-2A1DE0561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6" y="2185416"/>
            <a:ext cx="4446484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0C6DC-0C6B-9C8B-AA9E-F08B9AA12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6" y="2368296"/>
            <a:ext cx="4607052" cy="350215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Insert your </a:t>
            </a:r>
            <a:r>
              <a:rPr lang="en-US" sz="2000" b="1" dirty="0" err="1">
                <a:solidFill>
                  <a:schemeClr val="bg1"/>
                </a:solidFill>
                <a:ea typeface="+mn-lt"/>
                <a:cs typeface="+mn-lt"/>
              </a:rPr>
              <a:t>TinkerCAD</a:t>
            </a:r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 screenshot or your real breadboard picture.</a:t>
            </a:r>
          </a:p>
          <a:p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Labels needed:</a:t>
            </a:r>
          </a:p>
          <a:p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Trig → Digital Pin 9</a:t>
            </a:r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Echo → Digital Pin 10</a:t>
            </a:r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Servo Signal → Digital Pin 3 or 5</a:t>
            </a:r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VCC → 5V</a:t>
            </a:r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GND → GND</a:t>
            </a:r>
            <a:endParaRPr lang="en-US" sz="2000" b="1" dirty="0">
              <a:solidFill>
                <a:schemeClr val="bg1"/>
              </a:solidFill>
            </a:endParaRPr>
          </a:p>
          <a:p>
            <a:endParaRPr lang="en-US" sz="1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9D04C7-A7DD-DD21-CD59-1E455635A8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873" r="3" b="24977"/>
          <a:stretch>
            <a:fillRect/>
          </a:stretch>
        </p:blipFill>
        <p:spPr>
          <a:xfrm>
            <a:off x="6324599" y="10"/>
            <a:ext cx="5457817" cy="3337549"/>
          </a:xfrm>
          <a:prstGeom prst="rect">
            <a:avLst/>
          </a:prstGeom>
        </p:spPr>
      </p:pic>
      <p:pic>
        <p:nvPicPr>
          <p:cNvPr id="4" name="Picture 3" descr="A diagram of a circuit board&#10;&#10;AI-generated content may be incorrect.">
            <a:extLst>
              <a:ext uri="{FF2B5EF4-FFF2-40B4-BE49-F238E27FC236}">
                <a16:creationId xmlns:a16="http://schemas.microsoft.com/office/drawing/2014/main" id="{275C8920-081E-52D2-F330-D9DC90E984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92" r="14146" b="-1"/>
          <a:stretch>
            <a:fillRect/>
          </a:stretch>
        </p:blipFill>
        <p:spPr>
          <a:xfrm>
            <a:off x="6324590" y="3520439"/>
            <a:ext cx="5457817" cy="333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97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03A4B-AD2E-1C1F-EF01-D28D04EF6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Circuit </a:t>
            </a:r>
          </a:p>
        </p:txBody>
      </p:sp>
      <p:pic>
        <p:nvPicPr>
          <p:cNvPr id="4" name="Content Placeholder 3" descr="A diagram of a circuit board&#10;&#10;AI-generated content may be incorrect.">
            <a:extLst>
              <a:ext uri="{FF2B5EF4-FFF2-40B4-BE49-F238E27FC236}">
                <a16:creationId xmlns:a16="http://schemas.microsoft.com/office/drawing/2014/main" id="{EAAB98B9-43B9-596E-02FE-B3986D19A1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267" t="3341" r="5393" b="4454"/>
          <a:stretch>
            <a:fillRect/>
          </a:stretch>
        </p:blipFill>
        <p:spPr>
          <a:xfrm>
            <a:off x="-561" y="1394846"/>
            <a:ext cx="6213167" cy="4505434"/>
          </a:xfrm>
          <a:prstGeom prst="rect">
            <a:avLst/>
          </a:prstGeom>
        </p:spPr>
      </p:pic>
      <p:pic>
        <p:nvPicPr>
          <p:cNvPr id="5" name="Picture 4" descr="A diagram of a circuit board&#10;&#10;AI-generated content may be incorrect.">
            <a:extLst>
              <a:ext uri="{FF2B5EF4-FFF2-40B4-BE49-F238E27FC236}">
                <a16:creationId xmlns:a16="http://schemas.microsoft.com/office/drawing/2014/main" id="{5AFFFD46-B314-1A91-43FD-E4F62F123C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75" t="-11" r="25268" b="-141"/>
          <a:stretch>
            <a:fillRect/>
          </a:stretch>
        </p:blipFill>
        <p:spPr>
          <a:xfrm>
            <a:off x="6202244" y="342334"/>
            <a:ext cx="5772049" cy="566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60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Magnifying glass and question mark">
            <a:extLst>
              <a:ext uri="{FF2B5EF4-FFF2-40B4-BE49-F238E27FC236}">
                <a16:creationId xmlns:a16="http://schemas.microsoft.com/office/drawing/2014/main" id="{16ECD3E9-557B-5F51-DFE8-5CE3FAE9DD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r="-2" b="-2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44663" y="-4344657"/>
            <a:ext cx="3512260" cy="12201589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9E4B90-838B-58A4-4128-BF927AB08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7434"/>
            <a:ext cx="7800660" cy="15209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>
                <a:solidFill>
                  <a:srgbClr val="FFFFFF"/>
                </a:solidFill>
                <a:ea typeface="+mj-lt"/>
                <a:cs typeface="+mj-lt"/>
              </a:rPr>
              <a:t>Code Snippets</a:t>
            </a:r>
            <a:endParaRPr lang="en-US" sz="54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78570" y="-449383"/>
            <a:ext cx="2425271" cy="12201588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A5A64CD9-B86D-28C5-CD97-3A617CAA8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918" y="1903639"/>
            <a:ext cx="4057650" cy="4552950"/>
          </a:xfrm>
          <a:prstGeom prst="rect">
            <a:avLst/>
          </a:prstGeom>
        </p:spPr>
      </p:pic>
      <p:pic>
        <p:nvPicPr>
          <p:cNvPr id="37" name="Picture 3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1317D580-2DD6-DA18-8F91-FBA503477B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523" y="1907042"/>
            <a:ext cx="4690382" cy="431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912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 descr="Dan the Pixar Fan on X">
            <a:extLst>
              <a:ext uri="{FF2B5EF4-FFF2-40B4-BE49-F238E27FC236}">
                <a16:creationId xmlns:a16="http://schemas.microsoft.com/office/drawing/2014/main" id="{BC94FF71-2230-EA00-E020-BCA23FB636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90" t="9091" r="9783" b="1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759861-5C1D-0129-3ED0-55CCFEDBE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734" y="582168"/>
            <a:ext cx="5145024" cy="1774952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bg1"/>
                </a:solidFill>
                <a:ea typeface="+mj-lt"/>
                <a:cs typeface="+mj-lt"/>
              </a:rPr>
              <a:t>Future Improvements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E2D16FB-809C-DE08-8180-EA872C0F2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040" y="2618105"/>
            <a:ext cx="10525760" cy="35588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Add voice ("Hello, VEE here!")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Add following the owner.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Add eyes/face display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Add multi-gesture features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Convert into a full </a:t>
            </a:r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WALL-E style Gardener Robot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4397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9010FD-0F41-7BDF-0AC6-169B92898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Reference </a:t>
            </a:r>
          </a:p>
        </p:txBody>
      </p:sp>
      <p:pic>
        <p:nvPicPr>
          <p:cNvPr id="4" name="Picture 3" descr="A paper person with a face drawn on it&#10;&#10;AI-generated content may be incorrect.">
            <a:extLst>
              <a:ext uri="{FF2B5EF4-FFF2-40B4-BE49-F238E27FC236}">
                <a16:creationId xmlns:a16="http://schemas.microsoft.com/office/drawing/2014/main" id="{EEC357AF-4223-EF93-A79B-2E37D0121F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" r="2" b="2"/>
          <a:stretch>
            <a:fillRect/>
          </a:stretch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85F6F-13B8-45A3-AA1F-F80936320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solidFill>
                  <a:schemeClr val="bg1"/>
                </a:solidFill>
                <a:ea typeface="+mn-lt"/>
                <a:cs typeface="+mn-lt"/>
              </a:rPr>
              <a:t>Reference is taken from the reel of the account </a:t>
            </a:r>
          </a:p>
          <a:p>
            <a:pPr marL="0" indent="0">
              <a:buNone/>
            </a:pPr>
            <a:r>
              <a:rPr lang="en-US" sz="2200" err="1">
                <a:solidFill>
                  <a:schemeClr val="bg1"/>
                </a:solidFill>
                <a:ea typeface="+mn-lt"/>
                <a:cs typeface="+mn-lt"/>
              </a:rPr>
              <a:t>Roboticks</a:t>
            </a:r>
            <a:endParaRPr lang="en-US" sz="220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sz="2200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2200" dirty="0">
                <a:solidFill>
                  <a:schemeClr val="bg1"/>
                </a:solidFill>
                <a:ea typeface="+mn-lt"/>
                <a:cs typeface="+mn-lt"/>
              </a:rPr>
              <a:t>https://www.instagram.com/reel/DNaJnIKMDbS/?utm_source=ig_web_copy_link&amp;igsh=MzRlODBiNWFlZA==</a:t>
            </a:r>
            <a:endParaRPr lang="en-US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290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A1CA7-7FB1-EAD5-E054-3B6A0B244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163"/>
            <a:ext cx="10515600" cy="1325563"/>
          </a:xfrm>
        </p:spPr>
        <p:txBody>
          <a:bodyPr>
            <a:normAutofit/>
          </a:bodyPr>
          <a:lstStyle/>
          <a:p>
            <a:r>
              <a:rPr lang="en-US" sz="6600" dirty="0">
                <a:ea typeface="+mj-lt"/>
                <a:cs typeface="+mj-lt"/>
              </a:rPr>
              <a:t>Conclusion</a:t>
            </a:r>
            <a:endParaRPr lang="en-US" sz="66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4F9AF8-2925-B67D-5F75-CF3C6433A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endParaRPr lang="en-US" sz="3600" b="1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 sz="3600" dirty="0">
                <a:solidFill>
                  <a:schemeClr val="bg1"/>
                </a:solidFill>
                <a:highlight>
                  <a:srgbClr val="000000"/>
                </a:highlight>
                <a:ea typeface="+mn-lt"/>
                <a:cs typeface="+mn-lt"/>
              </a:rPr>
              <a:t>VEE successfully responds to human gestures.</a:t>
            </a:r>
            <a:endParaRPr lang="en-US" sz="3600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 sz="3600" dirty="0">
                <a:solidFill>
                  <a:schemeClr val="bg1"/>
                </a:solidFill>
                <a:highlight>
                  <a:srgbClr val="000000"/>
                </a:highlight>
                <a:ea typeface="+mn-lt"/>
                <a:cs typeface="+mn-lt"/>
              </a:rPr>
              <a:t>Demonstrates basics of sensing + actuation.</a:t>
            </a:r>
            <a:endParaRPr lang="en-US" sz="3600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 sz="3600" dirty="0">
                <a:solidFill>
                  <a:schemeClr val="bg1"/>
                </a:solidFill>
                <a:highlight>
                  <a:srgbClr val="000000"/>
                </a:highlight>
                <a:ea typeface="+mn-lt"/>
                <a:cs typeface="+mn-lt"/>
              </a:rPr>
              <a:t>Useful learning project for robotics and engineering.</a:t>
            </a:r>
            <a:endParaRPr lang="en-US" sz="3600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 sz="3600" dirty="0">
                <a:solidFill>
                  <a:schemeClr val="bg1"/>
                </a:solidFill>
                <a:highlight>
                  <a:srgbClr val="000000"/>
                </a:highlight>
                <a:ea typeface="+mn-lt"/>
                <a:cs typeface="+mn-lt"/>
              </a:rPr>
              <a:t>Opens path to intelligent social robots.</a:t>
            </a:r>
            <a:endParaRPr lang="en-US" sz="3600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939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VEE – The Gesture-Responsive Waving Robot</vt:lpstr>
      <vt:lpstr>PowerPoint Presentation</vt:lpstr>
      <vt:lpstr>Use pictures of each component:</vt:lpstr>
      <vt:lpstr>Circuit Diagram </vt:lpstr>
      <vt:lpstr>Circuit </vt:lpstr>
      <vt:lpstr>Code Snippets</vt:lpstr>
      <vt:lpstr>Future Improvements</vt:lpstr>
      <vt:lpstr>Reference 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362</cp:revision>
  <dcterms:created xsi:type="dcterms:W3CDTF">2025-11-06T15:51:50Z</dcterms:created>
  <dcterms:modified xsi:type="dcterms:W3CDTF">2025-11-18T04:37:48Z</dcterms:modified>
</cp:coreProperties>
</file>